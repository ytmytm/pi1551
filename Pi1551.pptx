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97" r:id="rId4"/>
    <p:sldId id="276" r:id="rId5"/>
    <p:sldId id="295" r:id="rId6"/>
    <p:sldId id="299" r:id="rId7"/>
    <p:sldId id="300" r:id="rId8"/>
    <p:sldId id="313" r:id="rId9"/>
    <p:sldId id="303" r:id="rId10"/>
    <p:sldId id="312" r:id="rId11"/>
    <p:sldId id="304" r:id="rId12"/>
    <p:sldId id="305" r:id="rId13"/>
    <p:sldId id="296" r:id="rId14"/>
    <p:sldId id="315" r:id="rId15"/>
    <p:sldId id="309" r:id="rId16"/>
    <p:sldId id="308" r:id="rId17"/>
    <p:sldId id="316" r:id="rId18"/>
    <p:sldId id="306" r:id="rId19"/>
    <p:sldId id="30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C6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CD4C58-A9A6-4C77-917B-A8D2DBF4CD5D}" v="107" dt="2024-12-14T18:11:56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3871" autoAdjust="0"/>
  </p:normalViewPr>
  <p:slideViewPr>
    <p:cSldViewPr snapToGrid="0">
      <p:cViewPr varScale="1">
        <p:scale>
          <a:sx n="61" d="100"/>
          <a:sy n="61" d="100"/>
        </p:scale>
        <p:origin x="9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iej Witkowiak" userId="854a590745522299" providerId="Windows Live" clId="Web-{40CD4C58-A9A6-4C77-917B-A8D2DBF4CD5D}"/>
    <pc:docChg chg="modSld">
      <pc:chgData name="Maciej Witkowiak" userId="854a590745522299" providerId="Windows Live" clId="Web-{40CD4C58-A9A6-4C77-917B-A8D2DBF4CD5D}" dt="2024-12-14T18:11:56.166" v="63"/>
      <pc:docMkLst>
        <pc:docMk/>
      </pc:docMkLst>
      <pc:sldChg chg="modSp">
        <pc:chgData name="Maciej Witkowiak" userId="854a590745522299" providerId="Windows Live" clId="Web-{40CD4C58-A9A6-4C77-917B-A8D2DBF4CD5D}" dt="2024-12-14T18:02:25.269" v="4" actId="20577"/>
        <pc:sldMkLst>
          <pc:docMk/>
          <pc:sldMk cId="1103083420" sldId="256"/>
        </pc:sldMkLst>
        <pc:spChg chg="mod">
          <ac:chgData name="Maciej Witkowiak" userId="854a590745522299" providerId="Windows Live" clId="Web-{40CD4C58-A9A6-4C77-917B-A8D2DBF4CD5D}" dt="2024-12-14T18:02:25.269" v="4" actId="20577"/>
          <ac:spMkLst>
            <pc:docMk/>
            <pc:sldMk cId="1103083420" sldId="256"/>
            <ac:spMk id="3" creationId="{D5E3608A-9B0D-D78C-E724-64784420720B}"/>
          </ac:spMkLst>
        </pc:spChg>
      </pc:sldChg>
      <pc:sldChg chg="modSp">
        <pc:chgData name="Maciej Witkowiak" userId="854a590745522299" providerId="Windows Live" clId="Web-{40CD4C58-A9A6-4C77-917B-A8D2DBF4CD5D}" dt="2024-12-14T18:10:10.112" v="61" actId="1076"/>
        <pc:sldMkLst>
          <pc:docMk/>
          <pc:sldMk cId="1469159540" sldId="257"/>
        </pc:sldMkLst>
        <pc:picChg chg="mod">
          <ac:chgData name="Maciej Witkowiak" userId="854a590745522299" providerId="Windows Live" clId="Web-{40CD4C58-A9A6-4C77-917B-A8D2DBF4CD5D}" dt="2024-12-14T18:10:10.112" v="61" actId="1076"/>
          <ac:picMkLst>
            <pc:docMk/>
            <pc:sldMk cId="1469159540" sldId="257"/>
            <ac:picMk id="1026" creationId="{812E8A45-BD37-8325-5FE0-A3423ACE093B}"/>
          </ac:picMkLst>
        </pc:picChg>
      </pc:sldChg>
      <pc:sldChg chg="modSp modAnim">
        <pc:chgData name="Maciej Witkowiak" userId="854a590745522299" providerId="Windows Live" clId="Web-{40CD4C58-A9A6-4C77-917B-A8D2DBF4CD5D}" dt="2024-12-14T18:11:56.166" v="63"/>
        <pc:sldMkLst>
          <pc:docMk/>
          <pc:sldMk cId="2175663015" sldId="276"/>
        </pc:sldMkLst>
        <pc:spChg chg="mod">
          <ac:chgData name="Maciej Witkowiak" userId="854a590745522299" providerId="Windows Live" clId="Web-{40CD4C58-A9A6-4C77-917B-A8D2DBF4CD5D}" dt="2024-12-14T18:02:57.677" v="22" actId="20577"/>
          <ac:spMkLst>
            <pc:docMk/>
            <pc:sldMk cId="2175663015" sldId="276"/>
            <ac:spMk id="5" creationId="{1EAC791F-F1BD-B659-4E7A-98ED5037948F}"/>
          </ac:spMkLst>
        </pc:spChg>
      </pc:sldChg>
      <pc:sldChg chg="modSp">
        <pc:chgData name="Maciej Witkowiak" userId="854a590745522299" providerId="Windows Live" clId="Web-{40CD4C58-A9A6-4C77-917B-A8D2DBF4CD5D}" dt="2024-12-14T18:09:12.296" v="60" actId="20577"/>
        <pc:sldMkLst>
          <pc:docMk/>
          <pc:sldMk cId="2233161426" sldId="293"/>
        </pc:sldMkLst>
        <pc:spChg chg="mod">
          <ac:chgData name="Maciej Witkowiak" userId="854a590745522299" providerId="Windows Live" clId="Web-{40CD4C58-A9A6-4C77-917B-A8D2DBF4CD5D}" dt="2024-12-14T18:09:12.296" v="60" actId="20577"/>
          <ac:spMkLst>
            <pc:docMk/>
            <pc:sldMk cId="2233161426" sldId="293"/>
            <ac:spMk id="2" creationId="{4A405CE8-E68C-143D-04B9-806ECA057D0C}"/>
          </ac:spMkLst>
        </pc:spChg>
      </pc:sldChg>
      <pc:sldChg chg="modSp">
        <pc:chgData name="Maciej Witkowiak" userId="854a590745522299" providerId="Windows Live" clId="Web-{40CD4C58-A9A6-4C77-917B-A8D2DBF4CD5D}" dt="2024-12-14T18:03:42.946" v="29" actId="20577"/>
        <pc:sldMkLst>
          <pc:docMk/>
          <pc:sldMk cId="2241317035" sldId="295"/>
        </pc:sldMkLst>
        <pc:spChg chg="mod">
          <ac:chgData name="Maciej Witkowiak" userId="854a590745522299" providerId="Windows Live" clId="Web-{40CD4C58-A9A6-4C77-917B-A8D2DBF4CD5D}" dt="2024-12-14T18:03:42.946" v="29" actId="20577"/>
          <ac:spMkLst>
            <pc:docMk/>
            <pc:sldMk cId="2241317035" sldId="295"/>
            <ac:spMk id="2" creationId="{7F657A64-82AD-69CF-6219-1A91D5A4A3C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A01433-2D41-4FD2-BDF8-A9860A3525F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AF2A6A-9DE5-400E-B598-F93E64A8F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199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Hello, my name is Maciej.</a:t>
            </a:r>
          </a:p>
          <a:p>
            <a:endParaRPr lang="en-US" dirty="0"/>
          </a:p>
          <a:p>
            <a:r>
              <a:rPr lang="en-US" dirty="0"/>
              <a:t>And this talk is about Pi1551 – a cycle-exact Commodore 1551 disk drive emulator, built around a Raspberry Pi 3.</a:t>
            </a:r>
          </a:p>
          <a:p>
            <a:r>
              <a:rPr lang="en-US" dirty="0"/>
              <a:t>It also acts as a tape drive, can play TAP files.</a:t>
            </a: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F2A6A-9DE5-400E-B598-F93E64A8F0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16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I have been involved with the C64 and C128 since 1992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My main interests were the C64 and C128, GEOS, hardware expansions.</a:t>
            </a:r>
          </a:p>
          <a:p>
            <a:pPr marL="0" indent="0">
              <a:buFontTx/>
              <a:buNone/>
            </a:pPr>
            <a:r>
              <a:rPr lang="en-US" dirty="0"/>
              <a:t>I bought my first Plus/4 in 2024, and immediately started looking for a convenient storage solution.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F2A6A-9DE5-400E-B598-F93E64A8F0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46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CB0BF-B54D-8E82-2F19-6E1E10871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6A0B7ABB-97E3-9521-1A0F-FD6CE2FCC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51873B1D-1DEB-BB46-6BBC-C5B724CF3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On the C64, I was used to the convenience of the Ultimate cartridge.</a:t>
            </a:r>
          </a:p>
          <a:p>
            <a:pPr marL="0" indent="0">
              <a:buFontTx/>
              <a:buNone/>
            </a:pPr>
            <a:r>
              <a:rPr lang="en-US" dirty="0"/>
              <a:t>I wanted something similar for the Plus/4: easy access to files,</a:t>
            </a:r>
          </a:p>
          <a:p>
            <a:pPr marL="0" indent="0">
              <a:buFontTx/>
              <a:buNone/>
            </a:pPr>
            <a:r>
              <a:rPr lang="en-US" dirty="0"/>
              <a:t>but also compatibility with disk games and demos and their loaders.</a:t>
            </a:r>
          </a:p>
          <a:p>
            <a:pPr marL="0" indent="0">
              <a:buFontTx/>
              <a:buNone/>
            </a:pPr>
            <a:r>
              <a:rPr lang="en-US" dirty="0"/>
              <a:t>The options I tried did not give me that combination. </a:t>
            </a:r>
          </a:p>
          <a:p>
            <a:pPr marL="0" indent="0">
              <a:buFontTx/>
              <a:buNone/>
            </a:pPr>
            <a:r>
              <a:rPr lang="en-US" dirty="0"/>
              <a:t>So I looked at the Plus/4’s own disk drive: the 1551.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1C3D095-0016-78C3-45C0-AC37FF3DC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F2A6A-9DE5-400E-B598-F93E64A8F0A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202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pl-PL" dirty="0" err="1"/>
              <a:t>hat’s</a:t>
            </a:r>
            <a:r>
              <a:rPr lang="pl-PL" dirty="0"/>
              <a:t> the native </a:t>
            </a:r>
            <a:r>
              <a:rPr lang="pl-PL" dirty="0" err="1"/>
              <a:t>solution</a:t>
            </a:r>
            <a:r>
              <a:rPr lang="pl-PL" dirty="0"/>
              <a:t> for C16/116/Plus4 </a:t>
            </a:r>
            <a:r>
              <a:rPr lang="pl-PL" dirty="0" err="1"/>
              <a:t>line</a:t>
            </a:r>
            <a:r>
              <a:rPr lang="pl-PL" dirty="0"/>
              <a:t> of </a:t>
            </a:r>
            <a:r>
              <a:rPr lang="pl-PL" dirty="0" err="1"/>
              <a:t>computers</a:t>
            </a:r>
            <a:r>
              <a:rPr lang="pl-PL" dirty="0"/>
              <a:t>. </a:t>
            </a:r>
            <a:r>
              <a:rPr lang="pl-PL" dirty="0" err="1"/>
              <a:t>Commodore</a:t>
            </a:r>
            <a:r>
              <a:rPr lang="pl-PL" dirty="0"/>
              <a:t> 1551 </a:t>
            </a:r>
            <a:r>
              <a:rPr lang="pl-PL" dirty="0" err="1"/>
              <a:t>disk</a:t>
            </a:r>
            <a:r>
              <a:rPr lang="pl-PL" dirty="0"/>
              <a:t> </a:t>
            </a:r>
            <a:r>
              <a:rPr lang="pl-PL" dirty="0" err="1"/>
              <a:t>drive</a:t>
            </a:r>
            <a:r>
              <a:rPr lang="pl-PL" dirty="0"/>
              <a:t>.</a:t>
            </a:r>
            <a:endParaRPr lang="en-US" dirty="0"/>
          </a:p>
          <a:p>
            <a:r>
              <a:rPr lang="en-US" dirty="0"/>
              <a:t>It was d</a:t>
            </a:r>
            <a:r>
              <a:rPr lang="pl-PL" dirty="0" err="1"/>
              <a:t>esigned</a:t>
            </a:r>
            <a:r>
              <a:rPr lang="pl-PL" dirty="0"/>
              <a:t> for </a:t>
            </a:r>
            <a:r>
              <a:rPr lang="pl-PL" dirty="0" err="1"/>
              <a:t>these</a:t>
            </a:r>
            <a:r>
              <a:rPr lang="pl-PL" dirty="0"/>
              <a:t> </a:t>
            </a:r>
            <a:r>
              <a:rPr lang="pl-PL" dirty="0" err="1"/>
              <a:t>computers</a:t>
            </a:r>
            <a:r>
              <a:rPr lang="pl-PL" dirty="0"/>
              <a:t>. </a:t>
            </a:r>
            <a:r>
              <a:rPr lang="pl-PL" dirty="0" err="1"/>
              <a:t>Even</a:t>
            </a:r>
            <a:r>
              <a:rPr lang="pl-PL" dirty="0"/>
              <a:t> </a:t>
            </a:r>
            <a:r>
              <a:rPr lang="pl-PL" dirty="0" err="1"/>
              <a:t>has</a:t>
            </a:r>
            <a:r>
              <a:rPr lang="pl-PL" dirty="0"/>
              <a:t> </a:t>
            </a:r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cool</a:t>
            </a:r>
            <a:r>
              <a:rPr lang="pl-PL" dirty="0"/>
              <a:t> </a:t>
            </a:r>
            <a:r>
              <a:rPr lang="pl-PL" dirty="0" err="1"/>
              <a:t>graphite</a:t>
            </a:r>
            <a:r>
              <a:rPr lang="pl-PL" dirty="0"/>
              <a:t> </a:t>
            </a:r>
            <a:r>
              <a:rPr lang="pl-PL" dirty="0" err="1"/>
              <a:t>finish</a:t>
            </a:r>
            <a:r>
              <a:rPr lang="pl-PL" dirty="0"/>
              <a:t> to </a:t>
            </a:r>
            <a:r>
              <a:rPr lang="pl-PL" dirty="0" err="1"/>
              <a:t>match</a:t>
            </a:r>
            <a:r>
              <a:rPr lang="pl-PL" dirty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/>
              <a:t>Internally it’s very similar to well known 1541 drive. The important difference is the connection.</a:t>
            </a:r>
          </a:p>
          <a:p>
            <a:r>
              <a:rPr lang="en-US" dirty="0"/>
              <a:t>It uses parallel bus called TCBM instead of serial IEC.</a:t>
            </a:r>
          </a:p>
          <a:p>
            <a:r>
              <a:rPr lang="en-US" dirty="0"/>
              <a:t>It connects through that cartridge, as visible on the photo, called paddle.</a:t>
            </a:r>
          </a:p>
          <a:p>
            <a:r>
              <a:rPr lang="en-US" dirty="0"/>
              <a:t>This paddle contains the port chip responsible for the parallel communication.</a:t>
            </a:r>
          </a:p>
          <a:p>
            <a:endParaRPr lang="pl-PL" dirty="0"/>
          </a:p>
          <a:p>
            <a:r>
              <a:rPr lang="en-US" dirty="0"/>
              <a:t>I wanted one of those but then I saw the prices on </a:t>
            </a:r>
            <a:r>
              <a:rPr lang="en-US" dirty="0" err="1"/>
              <a:t>ebay</a:t>
            </a:r>
            <a:r>
              <a:rPr lang="en-US" dirty="0"/>
              <a:t>. Besides, that wouldn’t solve the convenience problem.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F2A6A-9DE5-400E-B598-F93E64A8F0A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63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Ok, this is where my previous presentation in December 2024 ended.</a:t>
            </a:r>
          </a:p>
          <a:p>
            <a:endParaRPr lang="en-US" dirty="0"/>
          </a:p>
          <a:p>
            <a:r>
              <a:rPr lang="en-US" dirty="0"/>
              <a:t>I have solved the 1551 cartridge problem. The tcbm2sd started as a modern replacement for the paddle.</a:t>
            </a:r>
          </a:p>
          <a:p>
            <a:r>
              <a:rPr lang="en-US" dirty="0"/>
              <a:t>I put on the board also an Arduino that simulates a TCBM device resembling 1551 over SD card.</a:t>
            </a:r>
          </a:p>
          <a:p>
            <a:r>
              <a:rPr lang="en-US" dirty="0"/>
              <a:t>Think of it as a similar approach how SD2IEC simulates an IEC device resembling 1541.</a:t>
            </a:r>
          </a:p>
          <a:p>
            <a:endParaRPr lang="en-US" dirty="0"/>
          </a:p>
          <a:p>
            <a:r>
              <a:rPr lang="en-US" dirty="0"/>
              <a:t>It’s convenient and fast, has its own </a:t>
            </a:r>
            <a:r>
              <a:rPr lang="en-US" dirty="0" err="1"/>
              <a:t>fastloader</a:t>
            </a:r>
            <a:r>
              <a:rPr lang="en-US" dirty="0"/>
              <a:t>, but it cannot execute drive code, so games and demos with native </a:t>
            </a:r>
            <a:r>
              <a:rPr lang="en-US" dirty="0" err="1"/>
              <a:t>fastloaders</a:t>
            </a:r>
            <a:endParaRPr lang="en-US" dirty="0"/>
          </a:p>
          <a:p>
            <a:r>
              <a:rPr lang="en-US" dirty="0"/>
              <a:t>couldn’t run.</a:t>
            </a:r>
          </a:p>
          <a:p>
            <a:r>
              <a:rPr lang="en-US" dirty="0"/>
              <a:t>I have patched some games – the newest titles for Plus/4 for a native </a:t>
            </a:r>
            <a:r>
              <a:rPr lang="en-US" dirty="0" err="1"/>
              <a:t>fastloader</a:t>
            </a:r>
            <a:r>
              <a:rPr lang="en-US" dirty="0"/>
              <a:t> for this device, but I would never be able to patch demos.</a:t>
            </a:r>
          </a:p>
          <a:p>
            <a:endParaRPr lang="en-US" dirty="0"/>
          </a:p>
          <a:p>
            <a:r>
              <a:rPr lang="en-US" dirty="0"/>
              <a:t>So I had the interface and the next step was to emulate the drive behind it – on the other end of the TCBM cable</a:t>
            </a: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F2A6A-9DE5-400E-B598-F93E64A8F0A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596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41B3-2C00-E2D7-105C-75685DD4E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D35FA274-67BF-B1A1-5989-1158D4638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221D515A-5B88-B36E-6A30-F55DE47A5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Pi1541 project emulates 1541 in real time. This was my solid starting point. </a:t>
            </a:r>
          </a:p>
          <a:p>
            <a:r>
              <a:rPr lang="en-US" dirty="0"/>
              <a:t>It already contained all the difficult pieces like the disk image handling, GCR coding/decoding  and </a:t>
            </a:r>
            <a:r>
              <a:rPr lang="en-US" dirty="0" err="1"/>
              <a:t>realtime</a:t>
            </a:r>
            <a:r>
              <a:rPr lang="en-US" dirty="0"/>
              <a:t> emulation</a:t>
            </a:r>
          </a:p>
          <a:p>
            <a:endParaRPr lang="en-US" dirty="0"/>
          </a:p>
          <a:p>
            <a:r>
              <a:rPr lang="en-US" dirty="0"/>
              <a:t>My plan was to adapt it to the 1551 processor and interface hardware, then connect it to tcbm2sd.</a:t>
            </a:r>
          </a:p>
          <a:p>
            <a:endParaRPr lang="en-US" dirty="0"/>
          </a:p>
          <a:p>
            <a:r>
              <a:rPr lang="en-US" dirty="0"/>
              <a:t>It should have been easy, but in practice I quickly got stuck because while I can code in C,</a:t>
            </a:r>
          </a:p>
          <a:p>
            <a:r>
              <a:rPr lang="en-US" dirty="0"/>
              <a:t>I was no expert on bare metal ARM programming with strict timing requirements.</a:t>
            </a:r>
          </a:p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5389950-BD0D-0159-8A22-BDDA7D1AC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F2A6A-9DE5-400E-B598-F93E64A8F0A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653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A96CD-6490-D60B-C2A7-265861621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A731E42A-C97C-331D-C56C-87B62AA32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6219D860-934F-EBA6-0A0D-C64F00B44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was stuck for months, I had a hard time debugging because each test meant recompilation,</a:t>
            </a:r>
          </a:p>
          <a:p>
            <a:r>
              <a:rPr lang="en-US" dirty="0"/>
              <a:t>putting new code on the SD card, rebooting Pi and hoping for the best.</a:t>
            </a:r>
          </a:p>
          <a:p>
            <a:r>
              <a:rPr lang="en-US" dirty="0"/>
              <a:t>AI assistants helped me a lot here, finding silly bugs and problems to get this running.</a:t>
            </a:r>
          </a:p>
          <a:p>
            <a:endParaRPr lang="en-US" dirty="0"/>
          </a:p>
          <a:p>
            <a:r>
              <a:rPr lang="en-US" dirty="0"/>
              <a:t>The photo shows the first successful version, that was really just 16 wires between Raspberry PI GPIO connector and the tcbm2sd.</a:t>
            </a:r>
          </a:p>
          <a:p>
            <a:endParaRPr lang="en-US" dirty="0"/>
          </a:p>
          <a:p>
            <a:r>
              <a:rPr lang="en-US" dirty="0"/>
              <a:t>Getting communication right was only the beginning. The compatibility was a problem.</a:t>
            </a:r>
          </a:p>
          <a:p>
            <a:r>
              <a:rPr lang="en-US" dirty="0"/>
              <a:t>For example several demos use </a:t>
            </a:r>
            <a:r>
              <a:rPr lang="en-US" dirty="0" err="1"/>
              <a:t>bitfire</a:t>
            </a:r>
            <a:r>
              <a:rPr lang="en-US" dirty="0"/>
              <a:t> </a:t>
            </a:r>
            <a:r>
              <a:rPr lang="en-US" dirty="0" err="1"/>
              <a:t>fastloader</a:t>
            </a:r>
            <a:r>
              <a:rPr lang="en-US" dirty="0"/>
              <a:t>, which relies on pullup resistors in the drive.</a:t>
            </a:r>
          </a:p>
          <a:p>
            <a:r>
              <a:rPr lang="en-US" dirty="0"/>
              <a:t>My 2MHz CPU emulation also needed more work, it had too much jitter to be useful.</a:t>
            </a:r>
          </a:p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0C5B077-5829-38C9-FFA9-395A8F527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F2A6A-9DE5-400E-B598-F93E64A8F0A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00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837D5-3ADB-6C89-24BE-BB287FB51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D6B57C89-99E0-D3E0-4E77-487CC3B8F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C689A89C-4FA3-F1BD-3BD2-51C442385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early 2026, I had resolved the remaining problems.</a:t>
            </a:r>
          </a:p>
          <a:p>
            <a:endParaRPr lang="en-US" dirty="0"/>
          </a:p>
          <a:p>
            <a:r>
              <a:rPr lang="en-US" dirty="0"/>
              <a:t>There is one Pi1551 firmware, but two Raspberry Pi interface </a:t>
            </a:r>
            <a:r>
              <a:rPr lang="en-US" dirty="0" err="1"/>
              <a:t>flavours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On the left that’s the minimal DIY HAT version. It has the same size as Raspberry Pi 3A.</a:t>
            </a:r>
          </a:p>
          <a:p>
            <a:endParaRPr lang="en-US" dirty="0"/>
          </a:p>
          <a:p>
            <a:r>
              <a:rPr lang="en-US" dirty="0"/>
              <a:t>The box on the right there is Pi1551-III. This is the more complete version. Its mechanical design is based on </a:t>
            </a:r>
            <a:r>
              <a:rPr lang="en-US" dirty="0" err="1"/>
              <a:t>tebl’s</a:t>
            </a:r>
            <a:r>
              <a:rPr lang="en-US" dirty="0"/>
              <a:t> Pi1541-III concept.</a:t>
            </a:r>
          </a:p>
          <a:p>
            <a:r>
              <a:rPr lang="en-US" dirty="0"/>
              <a:t>Several circuit boards form the case, so it does not need a 3D-printed enclosure.</a:t>
            </a:r>
          </a:p>
          <a:p>
            <a:r>
              <a:rPr lang="en-US" dirty="0"/>
              <a:t>It also has an OLED display and convenient front controls.</a:t>
            </a:r>
          </a:p>
          <a:p>
            <a:r>
              <a:rPr lang="en-US" dirty="0"/>
              <a:t>Both versions run exactly the same firmware.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C50807A-DBE8-625C-1E0E-C0B677D41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F2A6A-9DE5-400E-B598-F93E64A8F0A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80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1B378-CDB9-A7EE-9D3A-F5F725899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65C9DB48-72A8-469E-1249-CBBF91296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03AC1C36-72C1-099E-23AC-4611B0E1B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the inside of Pi1551-III hidden between top and bottom covers and behind the faceplate with </a:t>
            </a:r>
            <a:r>
              <a:rPr lang="en-US" dirty="0" err="1"/>
              <a:t>RaspberryPi</a:t>
            </a:r>
            <a:r>
              <a:rPr lang="en-US" dirty="0"/>
              <a:t> removed.</a:t>
            </a:r>
          </a:p>
          <a:p>
            <a:endParaRPr lang="en-US" dirty="0"/>
          </a:p>
          <a:p>
            <a:r>
              <a:rPr lang="en-US" dirty="0"/>
              <a:t>We have a main board which holds the important parts and the front panel with display and controls.</a:t>
            </a:r>
          </a:p>
          <a:p>
            <a:r>
              <a:rPr lang="en-US" dirty="0"/>
              <a:t>L-E-Ds are not soldered yet in that photo.</a:t>
            </a:r>
          </a:p>
          <a:p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1BBF425-C4D2-F8D7-7BDD-7BF6AC5D5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F2A6A-9DE5-400E-B598-F93E64A8F0A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42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18885-4D65-7909-F999-42F2D66F0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054B0600-A4AC-643B-0007-5E113CAFD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15C4F705-2B4E-261D-193A-6765D5158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have a look how all of this is connected on this almost correct image.</a:t>
            </a:r>
          </a:p>
          <a:p>
            <a:endParaRPr lang="en-US" dirty="0"/>
          </a:p>
          <a:p>
            <a:r>
              <a:rPr lang="en-US" dirty="0"/>
              <a:t>For disk access, tcbm2sd plugs into the cartridge port. A sixteen-wire ribbon cable connects it to the Pi1551 interface,</a:t>
            </a:r>
          </a:p>
          <a:p>
            <a:r>
              <a:rPr lang="en-US" dirty="0"/>
              <a:t>which sits on top of the Raspberry Pi GPIO header. The Raspberry Pi runs the drive emulation.</a:t>
            </a:r>
          </a:p>
          <a:p>
            <a:endParaRPr lang="en-US" dirty="0"/>
          </a:p>
          <a:p>
            <a:r>
              <a:rPr lang="en-US" dirty="0"/>
              <a:t>With the ribbon cable disconnected, tcbm2sd can work as a standalone SD-card device again.</a:t>
            </a:r>
          </a:p>
          <a:p>
            <a:endParaRPr lang="en-US" dirty="0"/>
          </a:p>
          <a:p>
            <a:r>
              <a:rPr lang="en-US" dirty="0"/>
              <a:t>The second cable connects the computer’s tape port directly to the Pi1551 tape interface.</a:t>
            </a:r>
          </a:p>
          <a:p>
            <a:r>
              <a:rPr lang="en-US" dirty="0"/>
              <a:t>Tape playback works independently of the disk connection.</a:t>
            </a:r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05A6EA1-7495-0956-F8E0-9DF2EFD7D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F2A6A-9DE5-400E-B598-F93E64A8F0A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46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F8C1A-89C8-9779-4BA4-2A7F07C24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E0C6A19-C696-DDE0-3262-9F73151B6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AC9702DC-D8ED-FC21-B797-17D051E46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Pi1551 has three practical modes.</a:t>
            </a:r>
          </a:p>
          <a:p>
            <a:endParaRPr lang="en-US" dirty="0"/>
          </a:p>
          <a:p>
            <a:r>
              <a:rPr lang="en-US" dirty="0"/>
              <a:t>Browser mode provides file-level access to the SD card and supported disk images. This is also where you select disks and tapes.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resembles operation of SD2IEC and TCBM2SD.</a:t>
            </a:r>
          </a:p>
          <a:p>
            <a:endParaRPr lang="en-US" dirty="0"/>
          </a:p>
          <a:p>
            <a:r>
              <a:rPr lang="en-US" dirty="0"/>
              <a:t>Once we enter a D64 or G64 disk image. the emulation starts. It’s a cycle-exact 1551 emulation, running the DOS ROM, original one </a:t>
            </a:r>
          </a:p>
          <a:p>
            <a:r>
              <a:rPr lang="en-US" dirty="0"/>
              <a:t>Or alternatives. We can also emulate 8KB </a:t>
            </a:r>
            <a:r>
              <a:rPr lang="en-US" dirty="0" err="1"/>
              <a:t>RAMBOard</a:t>
            </a:r>
            <a:r>
              <a:rPr lang="en-US" dirty="0"/>
              <a:t> expansion with ROM patched to cache whole tracks in RAM for even faster operation.</a:t>
            </a:r>
          </a:p>
          <a:p>
            <a:endParaRPr lang="en-US" dirty="0"/>
          </a:p>
          <a:p>
            <a:r>
              <a:rPr lang="en-US" dirty="0"/>
              <a:t>The third mode, which runs independently in parallel is the tape player for TAP files.</a:t>
            </a:r>
          </a:p>
          <a:p>
            <a:r>
              <a:rPr lang="en-US" dirty="0"/>
              <a:t>Once you select a TAP file in the browser it becomes the active tape, the virtual PLAY button </a:t>
            </a:r>
          </a:p>
          <a:p>
            <a:r>
              <a:rPr lang="en-US" dirty="0"/>
              <a:t>will be pressed and its data stream will be played back according to the motor control line from the computer.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7B2171A-C68B-034D-CD96-6CCA31668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F2A6A-9DE5-400E-B598-F93E64A8F0A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4114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F55D5-3C78-DD42-2CEB-EE9757B11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ED2C0362-CB6E-11AC-91AE-C4084D150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1B6412E8-A0E1-64E0-0208-3DB9F2E89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compatibility is only half of convenience. The other half is software inside the computer.</a:t>
            </a:r>
          </a:p>
          <a:p>
            <a:r>
              <a:rPr lang="en-US" dirty="0"/>
              <a:t>The tcbm2sd provides a socket for external function ROM, so it’s very easy to populate it with something useful.</a:t>
            </a:r>
          </a:p>
          <a:p>
            <a:endParaRPr lang="en-US" dirty="0"/>
          </a:p>
          <a:p>
            <a:r>
              <a:rPr lang="en-US" dirty="0"/>
              <a:t>If you know Action Replay on the C64, the idea will feel familiar: a directory browser, a DOS wedge and fast loaders.</a:t>
            </a:r>
          </a:p>
          <a:p>
            <a:r>
              <a:rPr lang="en-US" dirty="0"/>
              <a:t>Parobek automatically selects the best available transfer method.</a:t>
            </a:r>
          </a:p>
          <a:p>
            <a:endParaRPr lang="en-US" dirty="0"/>
          </a:p>
          <a:p>
            <a:r>
              <a:rPr lang="en-US" dirty="0"/>
              <a:t>The name means a hired farmhand in Polish. It is a pun inspired by The Servant ROM for C128.</a:t>
            </a:r>
          </a:p>
          <a:p>
            <a:r>
              <a:rPr lang="en-US" dirty="0"/>
              <a:t>It is not as sophisticated, but it gets the job done.</a:t>
            </a:r>
          </a:p>
          <a:p>
            <a:endParaRPr lang="en-US" dirty="0"/>
          </a:p>
          <a:p>
            <a:r>
              <a:rPr lang="en-US" dirty="0"/>
              <a:t>Let’s see all of this in action.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BEDFE28-668F-6E10-36DF-7FA3A3EE1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F2A6A-9DE5-400E-B598-F93E64A8F0A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627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2EDED-1B9C-9D00-7923-B4BC34BED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6FB96BB5-94E2-F211-BF94-C7ED4A8D7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A5D9F317-46A3-3B07-3788-868914F8F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Tx/>
              <a:buAutoNum type="alphaUcPeriod"/>
            </a:pPr>
            <a:r>
              <a:rPr lang="en-US" dirty="0"/>
              <a:t>Pi1551-III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Connection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Controls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Browser mode and DOS wedge: dollar and slash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Directory browser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Enter image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Start demo with </a:t>
            </a:r>
            <a:r>
              <a:rPr lang="en-US" dirty="0" err="1"/>
              <a:t>fastloader</a:t>
            </a:r>
            <a:endParaRPr lang="en-US" dirty="0"/>
          </a:p>
          <a:p>
            <a:pPr marL="0" lvl="0" indent="0">
              <a:buFontTx/>
              <a:buNone/>
            </a:pPr>
            <a:r>
              <a:rPr lang="en-US" dirty="0"/>
              <a:t>B. TAP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Tape cable connected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Choose TAP file, but don’t click on it yet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LOAD, press play on tape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Clicking on TAP starts the tape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LOADs, finds a file- that was sped up quite a lot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TAP player shows the tape counter and percentage of the TAP file</a:t>
            </a:r>
          </a:p>
          <a:p>
            <a:pPr marL="171450" lvl="0" indent="-171450">
              <a:buFontTx/>
              <a:buChar char="-"/>
            </a:pPr>
            <a:endParaRPr lang="en-US" dirty="0"/>
          </a:p>
          <a:p>
            <a:pPr marL="0" lvl="0" indent="0">
              <a:buFontTx/>
              <a:buNone/>
            </a:pPr>
            <a:r>
              <a:rPr lang="en-US" dirty="0"/>
              <a:t>C. HAT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Tiny hat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Now I have entered the </a:t>
            </a:r>
            <a:r>
              <a:rPr lang="en-US" dirty="0" err="1"/>
              <a:t>fastloader</a:t>
            </a:r>
            <a:r>
              <a:rPr lang="en-US" dirty="0"/>
              <a:t> mode, the function key brings the Directory browser from Parobek, no need to load it from disk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It’s not well visible, I’m going there into a D81 disk image with a game patched for tcbm2sd – </a:t>
            </a:r>
            <a:r>
              <a:rPr lang="en-US" dirty="0" err="1"/>
              <a:t>Alpharay</a:t>
            </a: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/>
              <a:t>So even though it’s not emulation 1581 you can still load files from there, just with TCBM protocol</a:t>
            </a:r>
          </a:p>
          <a:p>
            <a:pPr marL="171450" lvl="0" indent="-171450">
              <a:buFontTx/>
              <a:buChar char="-"/>
            </a:pPr>
            <a:endParaRPr lang="en-US" dirty="0"/>
          </a:p>
          <a:p>
            <a:pPr marL="0" lvl="0" indent="0">
              <a:buFontTx/>
              <a:buNone/>
            </a:pPr>
            <a:r>
              <a:rPr lang="en-US" dirty="0"/>
              <a:t>D. Flipping disk</a:t>
            </a:r>
          </a:p>
          <a:p>
            <a:pPr marL="0" lvl="0" indent="0">
              <a:buFontTx/>
              <a:buNone/>
            </a:pPr>
            <a:r>
              <a:rPr lang="en-US" dirty="0"/>
              <a:t>This last part shows how multiple disks can be selected via LST file, same like on SD2IEC. Then the turn of the encoder switches the current disk</a:t>
            </a:r>
          </a:p>
          <a:p>
            <a:pPr marL="0" lvl="0" indent="0">
              <a:buFontTx/>
              <a:buNone/>
            </a:pPr>
            <a:r>
              <a:rPr lang="en-US" dirty="0"/>
              <a:t>Again I’m using DOS wedge for quick directory listing with dollar sign instead of basic command DIR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7268817-4071-8E3D-3888-193B1BB7B9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F2A6A-9DE5-400E-B598-F93E64A8F0A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1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09DB4-DBA9-03FC-7B73-A3F154972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2826566E-74FE-05C8-BCB2-6A1B8BCF4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997B417A-717A-B0E4-DC87-BE254C44C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in conclusion, the complete system consists of three projects. tcbm2sd provides the computer-side interface and can still operate on its own.</a:t>
            </a:r>
          </a:p>
          <a:p>
            <a:endParaRPr lang="en-US" dirty="0"/>
          </a:p>
          <a:p>
            <a:r>
              <a:rPr lang="en-US" dirty="0"/>
              <a:t>Pi1551 provides exact drive emulation, while Parobek makes the complete system convenient to control.</a:t>
            </a:r>
          </a:p>
          <a:p>
            <a:endParaRPr lang="en-US" dirty="0"/>
          </a:p>
          <a:p>
            <a:r>
              <a:rPr lang="en-US" dirty="0"/>
              <a:t>Together, they solve the problem that started this project.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5760975-56AD-5310-E300-6BCB0FBEA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F2A6A-9DE5-400E-B598-F93E64A8F0A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46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591A1-7A25-3E01-F9EC-4BFF3A7DA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EE3FCC18-508E-C73D-D321-4ED42EEBD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9C51E699-AA35-3E0E-ABAE-B0B8D61B8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hardware designs are working, and the core emulator is usable. The next stage is mainly firmware development.</a:t>
            </a:r>
          </a:p>
          <a:p>
            <a:endParaRPr lang="en-US" dirty="0"/>
          </a:p>
          <a:p>
            <a:r>
              <a:rPr lang="en-US" dirty="0"/>
              <a:t>Now the goal is to make it more polished and easier to use.</a:t>
            </a:r>
          </a:p>
          <a:p>
            <a:endParaRPr lang="en-US" dirty="0"/>
          </a:p>
          <a:p>
            <a:r>
              <a:rPr lang="en-US" dirty="0"/>
              <a:t>I want to improve the on-device menu, make the current mode and drive status easier to understand,</a:t>
            </a:r>
          </a:p>
          <a:p>
            <a:r>
              <a:rPr lang="en-US" dirty="0"/>
              <a:t>and eventually add tape recording because it’s already supported by the hardware.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79242B2-594E-811B-0AAA-19C2AAAA8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F2A6A-9DE5-400E-B598-F93E64A8F0A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993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FD675-C87B-82BC-B793-B3B335655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BF7623BB-0A0E-927A-3632-EFDCB4B3A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5B34C66E-A62C-BD5C-236E-CECB42CCA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was possible because other developers documented and published their work.</a:t>
            </a:r>
          </a:p>
          <a:p>
            <a:r>
              <a:rPr lang="en-US" dirty="0"/>
              <a:t>Especially Pi1541, Pi1541-III and many other community projects.</a:t>
            </a:r>
          </a:p>
          <a:p>
            <a:endParaRPr lang="en-US" dirty="0"/>
          </a:p>
          <a:p>
            <a:r>
              <a:rPr lang="en-US" dirty="0"/>
              <a:t>All firmware, hardware designs and documentation are published as open-source projects on GitHub as well.</a:t>
            </a:r>
          </a:p>
          <a:p>
            <a:r>
              <a:rPr lang="en-US" dirty="0"/>
              <a:t>You are free to take it and use it.</a:t>
            </a:r>
          </a:p>
          <a:p>
            <a:endParaRPr lang="en-US" dirty="0"/>
          </a:p>
          <a:p>
            <a:r>
              <a:rPr lang="en-US" dirty="0"/>
              <a:t>The repositories contain manufacturing files, bills of materials, assembly instructions and SD-card files, everything you need.</a:t>
            </a:r>
          </a:p>
          <a:p>
            <a:endParaRPr lang="en-US" dirty="0"/>
          </a:p>
          <a:p>
            <a:r>
              <a:rPr lang="en-US" dirty="0"/>
              <a:t>People interested in buying something ready to use can also contact me directly as I keep a small stock of assembled units.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F577E32-7FC4-AE16-A00B-2D7645030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F2A6A-9DE5-400E-B598-F93E64A8F0A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794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F5100-6680-48E6-A7A8-548D5FC32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20D95E24-99F9-2C94-199A-6AD3C3D26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23854EAA-5BA4-1D85-6275-9EB055759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40285A7B-2159-4833-9987-98C21AC90C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F2A6A-9DE5-400E-B598-F93E64A8F0A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067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8F963-FF87-33D0-A82B-BCC3CA7BE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3B50186F-CF50-4A63-1DFD-F3B32A731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BC8CDB04-BE5D-E8BF-6EDF-DF58BE1B0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Pi1551 is an emulator, but the same research led to a second project. This is Pi1551-Pico.</a:t>
            </a:r>
          </a:p>
          <a:p>
            <a:endParaRPr lang="en-US" dirty="0"/>
          </a:p>
          <a:p>
            <a:r>
              <a:rPr lang="en-US" dirty="0"/>
              <a:t>Instead of emulating the complete drive on a Raspberry Pi 3, it recreates the electronics around a real drive mechanism and a real 6510T processor.</a:t>
            </a:r>
          </a:p>
          <a:p>
            <a:endParaRPr lang="en-US" dirty="0"/>
          </a:p>
          <a:p>
            <a:r>
              <a:rPr lang="en-US" sz="1200" dirty="0"/>
              <a:t>Reuses Pi1551-III form factor and front panel</a:t>
            </a:r>
          </a:p>
          <a:p>
            <a:endParaRPr lang="en-US" sz="1200" dirty="0"/>
          </a:p>
          <a:p>
            <a:r>
              <a:rPr lang="en-US" sz="1200" dirty="0"/>
              <a:t>Almost by accident I’ve built a computer.</a:t>
            </a:r>
          </a:p>
          <a:p>
            <a:endParaRPr lang="en-US" sz="1200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3F8B49A-A4DF-1513-1683-B5C766D39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F2A6A-9DE5-400E-B598-F93E64A8F0A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0440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F51DD-0836-8B24-0699-150DAC357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78A46CD2-F55B-16F2-A8EA-0F89DB13B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72237590-FAC6-654C-2E3F-73BFC6D50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Pi1551 is an emulator, but the same research led to a second project. This is Pi1551-Pico.</a:t>
            </a:r>
          </a:p>
          <a:p>
            <a:endParaRPr lang="en-US" dirty="0"/>
          </a:p>
          <a:p>
            <a:r>
              <a:rPr lang="en-US" dirty="0"/>
              <a:t>Instead of emulating the complete drive on a Raspberry Pi 3, it recreates the electronics around a real drive mechanism and a real 6510T processor.</a:t>
            </a:r>
          </a:p>
          <a:p>
            <a:endParaRPr lang="en-US" dirty="0"/>
          </a:p>
          <a:p>
            <a:r>
              <a:rPr lang="en-US" dirty="0"/>
              <a:t>A Raspberry Pi Pico provides the clock, interrupt timing and control functions. A CPLD implements the TPI and glue logic.</a:t>
            </a:r>
          </a:p>
          <a:p>
            <a:endParaRPr lang="en-US" dirty="0"/>
          </a:p>
          <a:p>
            <a:r>
              <a:rPr lang="en-US" dirty="0"/>
              <a:t>The design also integrates the </a:t>
            </a:r>
            <a:r>
              <a:rPr lang="en-US" dirty="0" err="1"/>
              <a:t>RAMBoard</a:t>
            </a:r>
            <a:r>
              <a:rPr lang="en-US" dirty="0"/>
              <a:t> expansion and space for alternative drive ROMs.</a:t>
            </a:r>
          </a:p>
          <a:p>
            <a:endParaRPr lang="en-US" dirty="0"/>
          </a:p>
          <a:p>
            <a:r>
              <a:rPr lang="en-US" dirty="0"/>
              <a:t>An original 6510T CPU can be used, but the MOS CPU Replacer is another possible option.</a:t>
            </a:r>
          </a:p>
          <a:p>
            <a:endParaRPr lang="en-US" dirty="0"/>
          </a:p>
          <a:p>
            <a:r>
              <a:rPr lang="en-US" dirty="0"/>
              <a:t>This project is not published yet and under development.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E804D46-34E5-F23A-2B2A-53CCC58052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F2A6A-9DE5-400E-B598-F93E64A8F0A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0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02C28ED-F89B-0AA0-72F9-FED56617C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248D2E5-5C8D-6EAE-D980-1B4E87C8A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0544EEA-5681-FD6A-E50C-F1458D5D0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ADDE-E9CC-48E9-AF39-E8FEA7D604D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183098C-1627-D5E7-3E00-25554C6C8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D39BF8F-A6BF-B361-B6FC-2933D279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EDA5-7E98-4F8B-90BD-E984C7CF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23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0BE3EF7-0F97-9D09-5FF1-58716D768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EB69C35-3B00-6CD6-DBE0-12E78404B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0C3AD9-024F-858D-0293-8C9F88909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ADDE-E9CC-48E9-AF39-E8FEA7D604D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74E3E5C-DDAE-B749-928C-5DA149BC3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87DBD08-A41E-11C5-C545-B2BD440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EDA5-7E98-4F8B-90BD-E984C7CF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377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A86AC1-7E1F-E3E4-614E-3C24883A3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B800B4A-4735-3350-83E6-92D794C2E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6CDC2DB-BAE5-C888-2B4A-8B5869F50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ADDE-E9CC-48E9-AF39-E8FEA7D604D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D4CF63-CBDC-9BC3-CB95-C94713974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595F264-47ED-8D1C-BCFA-A0A210E1D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EDA5-7E98-4F8B-90BD-E984C7CF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30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1C3640-8E07-38B9-2220-7F8D86109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D501616-BB90-65A1-BAB8-1A6179F413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C708232-24A7-74DB-6B7C-B9B8423D2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E8C32DD-84F3-A9C3-767B-8432F85BD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ADDE-E9CC-48E9-AF39-E8FEA7D604D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F535383-8C78-449F-CB9F-CF8BEF904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D19D88D-4BFF-446C-4DF6-1EB23A993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EDA5-7E98-4F8B-90BD-E984C7CF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22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7D967A3-55B1-6BFD-BD9E-9D02B2010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1E15BD-08E5-40CA-7DE2-5D82DD82C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3ED9813-2CA8-A7E3-7437-55386B944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F8E44E3D-42AB-003F-BE9C-B07199CE8D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E2B61C04-C472-4775-DBB8-D4A8520186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4DC94900-2E86-84B4-FD1B-F43A1E137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ADDE-E9CC-48E9-AF39-E8FEA7D604D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5ADA1B95-742C-DA6E-FCB0-14E2AC409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92B8CFD-14B9-75D7-3251-F73AD36BC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EDA5-7E98-4F8B-90BD-E984C7CF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036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0E9B27-1B74-AFCD-6CBE-80ED39A0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1161D93-4BA2-7427-251F-A30969598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ADDE-E9CC-48E9-AF39-E8FEA7D604D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8742E08-A1C1-59AF-125C-BDEDC03F4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8FBEF458-9478-FA5D-727C-F8AB934C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EDA5-7E98-4F8B-90BD-E984C7CF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37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F394762F-EF51-0582-FF57-D6EC9414C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ADDE-E9CC-48E9-AF39-E8FEA7D604D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0DF5FBEC-8EE9-CF1E-88D0-334A82C75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BE144BA-AC52-1AE8-2852-0EE6FF0E8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EDA5-7E98-4F8B-90BD-E984C7CF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534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5B50B0-9918-7174-6252-F5A314487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A944AC0-D078-C011-65A8-3BAC49592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A8A2894-1F76-EA6C-3AAB-FAA8AABC0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5677C1D-9ADE-0CD4-D2FB-D926D7490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ADDE-E9CC-48E9-AF39-E8FEA7D604D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1AEEE93-C9E1-93C7-5858-234E92AB4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7E01E81-3854-F6AB-E608-4602EBC84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EDA5-7E98-4F8B-90BD-E984C7CF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98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9CCB9AB-7BE8-15F9-6B42-C377195D8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6C4C5667-81A8-1305-4157-DA002EA4DD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89ACC47C-C512-52A8-1CBA-F9072DDF9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5E41C5C-17D8-7004-47FF-282A5306A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ADDE-E9CC-48E9-AF39-E8FEA7D604D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0C6DA2A-498C-A9D1-5C29-B18E4DB64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A5C47DE-2187-98B0-839F-F12D3CE8A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EDA5-7E98-4F8B-90BD-E984C7CF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2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EDFC843-1090-AA61-C787-9154C0932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8C3C890-198B-97E3-BD73-C41D7CC24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232D0C4-2DE0-5D61-F2D2-F366FEAAB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ADDE-E9CC-48E9-AF39-E8FEA7D604D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6DC6D12-0610-147A-75F2-E87DCB9D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9D370E3-EB08-35BA-E768-B1114AAB8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EDA5-7E98-4F8B-90BD-E984C7CF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94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20C8BCB9-03FE-0327-EBF8-91E3455E2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F6B1BBF-3FE7-DFB5-33F8-1F04E738D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19FECB0-044A-17E5-5ECF-637D241A1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ADDE-E9CC-48E9-AF39-E8FEA7D604D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EFCF303-6940-FFE5-1407-83B182757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C56393F-4CC1-9D0B-124A-3D77BB709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EDA5-7E98-4F8B-90BD-E984C7CF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18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D186AE4D-53AD-A5E6-D257-15A333C95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71A7AF7-65D9-EBF0-EE26-006680DFB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BD7B882-A5F8-F42A-CDE3-8EA2B25990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1ADDE-E9CC-48E9-AF39-E8FEA7D604D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07406CA-3CBE-EA68-A501-A5A9AF06C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62152C9-7835-6704-0778-FD00D5DE6D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EEDA5-7E98-4F8B-90BD-E984C7CF1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57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bm-pi1541.firebaseapp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tmytm/Pi1551-III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https://github.com/ytmytm/plus4-tcbm2sd" TargetMode="External"/><Relationship Id="rId7" Type="http://schemas.openxmlformats.org/officeDocument/2006/relationships/hyperlink" Target="https://github.com/ytmytm/plus4-parobek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ytmytm/Pi1551" TargetMode="External"/><Relationship Id="rId5" Type="http://schemas.openxmlformats.org/officeDocument/2006/relationships/hyperlink" Target="https://github.com/ytmytm/Pi1551-III" TargetMode="External"/><Relationship Id="rId4" Type="http://schemas.openxmlformats.org/officeDocument/2006/relationships/hyperlink" Target="https://github.com/ytmytm/Pi1551-HAT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ytm@elysium.p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ytmytm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ook42/1541-rePico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monotech/MOS_CPU_Replac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3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DB6DC3B-2B27-89A3-F5BD-6B3410291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 dirty="0"/>
              <a:t>Pi1551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3608A-9B0D-D78C-E724-647844207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pl-PL" dirty="0"/>
              <a:t>1551 </a:t>
            </a:r>
            <a:r>
              <a:rPr lang="pl-PL" dirty="0" err="1"/>
              <a:t>disk</a:t>
            </a:r>
            <a:r>
              <a:rPr lang="pl-PL" dirty="0"/>
              <a:t> </a:t>
            </a:r>
            <a:r>
              <a:rPr lang="pl-PL" dirty="0" err="1"/>
              <a:t>drive</a:t>
            </a:r>
            <a:r>
              <a:rPr lang="pl-PL" dirty="0"/>
              <a:t> </a:t>
            </a:r>
            <a:r>
              <a:rPr lang="en-US" dirty="0" err="1"/>
              <a:t>em</a:t>
            </a:r>
            <a:r>
              <a:rPr lang="pl-PL" dirty="0" err="1"/>
              <a:t>ulator</a:t>
            </a:r>
            <a:endParaRPr lang="en-US" dirty="0"/>
          </a:p>
          <a:p>
            <a:pPr algn="l"/>
            <a:r>
              <a:rPr lang="en-US" dirty="0"/>
              <a:t>1531 TAP player</a:t>
            </a:r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140226BD-A426-F254-E224-013E3743E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5" r="1684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83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88644783-F602-865D-28C3-5143E0593542}"/>
              </a:ext>
            </a:extLst>
          </p:cNvPr>
          <p:cNvSpPr txBox="1"/>
          <p:nvPr/>
        </p:nvSpPr>
        <p:spPr>
          <a:xfrm>
            <a:off x="797629" y="667658"/>
            <a:ext cx="41569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400" dirty="0"/>
              <a:t>A </a:t>
            </a:r>
            <a:r>
              <a:rPr lang="pl-PL" sz="4400" dirty="0" err="1"/>
              <a:t>little</a:t>
            </a:r>
            <a:r>
              <a:rPr lang="pl-PL" sz="4400" dirty="0"/>
              <a:t> </a:t>
            </a:r>
            <a:r>
              <a:rPr lang="pl-PL" sz="4400" dirty="0" err="1"/>
              <a:t>about</a:t>
            </a:r>
            <a:r>
              <a:rPr lang="pl-PL" sz="4400" dirty="0"/>
              <a:t> me</a:t>
            </a:r>
            <a:endParaRPr lang="en-US" sz="4400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93BA89E-5B67-8F3A-B787-5D1884B8B971}"/>
              </a:ext>
            </a:extLst>
          </p:cNvPr>
          <p:cNvSpPr txBox="1"/>
          <p:nvPr/>
        </p:nvSpPr>
        <p:spPr>
          <a:xfrm>
            <a:off x="797629" y="1442171"/>
            <a:ext cx="754841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pl-PL" sz="3200" dirty="0" err="1"/>
              <a:t>Involved</a:t>
            </a:r>
            <a:r>
              <a:rPr lang="pl-PL" sz="3200" dirty="0"/>
              <a:t> with C64 and C128 </a:t>
            </a:r>
            <a:r>
              <a:rPr lang="pl-PL" sz="3200" dirty="0" err="1"/>
              <a:t>since</a:t>
            </a:r>
            <a:r>
              <a:rPr lang="pl-PL" sz="3200" dirty="0"/>
              <a:t> 1992</a:t>
            </a:r>
          </a:p>
          <a:p>
            <a:pPr marL="457200" indent="-457200">
              <a:buFontTx/>
              <a:buChar char="-"/>
            </a:pPr>
            <a:r>
              <a:rPr lang="pl-PL" sz="3200" dirty="0"/>
              <a:t>GEOS, C128, hardware</a:t>
            </a:r>
            <a:endParaRPr lang="en-US" sz="3200" dirty="0"/>
          </a:p>
          <a:p>
            <a:pPr marL="457200" indent="-457200">
              <a:buFontTx/>
              <a:buChar char="-"/>
            </a:pPr>
            <a:r>
              <a:rPr lang="en-US" sz="3200" dirty="0"/>
              <a:t>Plus/4 owner since June 2024</a:t>
            </a:r>
            <a:endParaRPr lang="pl-PL" sz="3200" dirty="0"/>
          </a:p>
        </p:txBody>
      </p:sp>
    </p:spTree>
    <p:extLst>
      <p:ext uri="{BB962C8B-B14F-4D97-AF65-F5344CB8AC3E}">
        <p14:creationId xmlns:p14="http://schemas.microsoft.com/office/powerpoint/2010/main" val="1469159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30209-44BB-DE3A-A6F6-F9818223A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22FC8FE4-D13C-DD6E-4DF5-A053B462A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972" y="3429000"/>
            <a:ext cx="4992479" cy="339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AC6076FE-EF2D-326F-53BB-F18D692D5247}"/>
              </a:ext>
            </a:extLst>
          </p:cNvPr>
          <p:cNvSpPr txBox="1"/>
          <p:nvPr/>
        </p:nvSpPr>
        <p:spPr>
          <a:xfrm>
            <a:off x="797629" y="667658"/>
            <a:ext cx="54257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Data storage problem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1CC644F6-77E6-98EE-8972-D3FE15109D61}"/>
              </a:ext>
            </a:extLst>
          </p:cNvPr>
          <p:cNvSpPr txBox="1"/>
          <p:nvPr/>
        </p:nvSpPr>
        <p:spPr>
          <a:xfrm>
            <a:off x="797629" y="1442171"/>
            <a:ext cx="943142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pl-PL" sz="2800" dirty="0" err="1"/>
              <a:t>Tapecart</a:t>
            </a:r>
            <a:r>
              <a:rPr lang="pl-PL" sz="2800" dirty="0"/>
              <a:t> </a:t>
            </a:r>
            <a:r>
              <a:rPr lang="en-US" sz="2800" dirty="0"/>
              <a:t>is fast, but can’t support</a:t>
            </a:r>
            <a:r>
              <a:rPr lang="pl-PL" sz="2800" dirty="0"/>
              <a:t> </a:t>
            </a:r>
            <a:r>
              <a:rPr lang="pl-PL" sz="2800" dirty="0" err="1"/>
              <a:t>disk</a:t>
            </a:r>
            <a:r>
              <a:rPr lang="pl-PL" sz="2800" dirty="0"/>
              <a:t> </a:t>
            </a:r>
            <a:r>
              <a:rPr lang="pl-PL" sz="2800" dirty="0" err="1"/>
              <a:t>images</a:t>
            </a:r>
            <a:endParaRPr lang="pl-PL" sz="2800" dirty="0"/>
          </a:p>
          <a:p>
            <a:pPr marL="457200" indent="-457200">
              <a:buFontTx/>
              <a:buChar char="-"/>
            </a:pPr>
            <a:r>
              <a:rPr lang="pl-PL" sz="2800" dirty="0"/>
              <a:t>154</a:t>
            </a:r>
            <a:r>
              <a:rPr lang="en-US" sz="2800" dirty="0"/>
              <a:t>1 is slow and I don’t want to copy data to real floppies</a:t>
            </a:r>
            <a:endParaRPr lang="pl-PL" sz="2800" dirty="0"/>
          </a:p>
          <a:p>
            <a:pPr marL="457200" indent="-457200">
              <a:buFontTx/>
              <a:buChar char="-"/>
            </a:pPr>
            <a:r>
              <a:rPr lang="pl-PL" sz="2800" dirty="0"/>
              <a:t>SD2IEC </a:t>
            </a:r>
            <a:r>
              <a:rPr lang="en-US" sz="2800" dirty="0"/>
              <a:t>is </a:t>
            </a:r>
            <a:r>
              <a:rPr lang="pl-PL" sz="2800" dirty="0" err="1"/>
              <a:t>faster</a:t>
            </a:r>
            <a:r>
              <a:rPr lang="pl-PL" sz="2800" dirty="0"/>
              <a:t> but </a:t>
            </a:r>
            <a:r>
              <a:rPr lang="en-US" sz="2800" dirty="0"/>
              <a:t>not compatible and </a:t>
            </a:r>
            <a:r>
              <a:rPr lang="pl-PL" sz="2800" dirty="0" err="1"/>
              <a:t>still</a:t>
            </a:r>
            <a:r>
              <a:rPr lang="pl-PL" sz="2800" dirty="0"/>
              <a:t> SLOW!</a:t>
            </a:r>
          </a:p>
          <a:p>
            <a:pPr marL="457200" indent="-457200">
              <a:buFontTx/>
              <a:buChar char="-"/>
            </a:pPr>
            <a:r>
              <a:rPr lang="pl-PL" sz="2800" dirty="0"/>
              <a:t>Ultimate II+ </a:t>
            </a:r>
            <a:r>
              <a:rPr lang="en-US" sz="2800" dirty="0"/>
              <a:t>powerful but </a:t>
            </a:r>
            <a:r>
              <a:rPr lang="pl-PL" sz="2800" dirty="0"/>
              <a:t>not </a:t>
            </a:r>
            <a:r>
              <a:rPr lang="pl-PL" sz="2800" dirty="0" err="1"/>
              <a:t>convenient</a:t>
            </a:r>
            <a:r>
              <a:rPr lang="pl-PL" sz="2800" dirty="0"/>
              <a:t> to </a:t>
            </a:r>
            <a:r>
              <a:rPr lang="pl-PL" sz="2800" dirty="0" err="1"/>
              <a:t>control</a:t>
            </a:r>
            <a:endParaRPr lang="pl-PL" sz="2800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7A55B951-045A-B2D7-8C86-9D44966A6C46}"/>
              </a:ext>
            </a:extLst>
          </p:cNvPr>
          <p:cNvSpPr txBox="1"/>
          <p:nvPr/>
        </p:nvSpPr>
        <p:spPr>
          <a:xfrm>
            <a:off x="797629" y="4692554"/>
            <a:ext cx="551131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Let’s review the native</a:t>
            </a:r>
          </a:p>
          <a:p>
            <a:r>
              <a:rPr lang="en-US" sz="4400" dirty="0"/>
              <a:t>1551 disk drive</a:t>
            </a:r>
          </a:p>
        </p:txBody>
      </p:sp>
    </p:spTree>
    <p:extLst>
      <p:ext uri="{BB962C8B-B14F-4D97-AF65-F5344CB8AC3E}">
        <p14:creationId xmlns:p14="http://schemas.microsoft.com/office/powerpoint/2010/main" val="356156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52452CBA-7E60-C349-0370-8FCCA60F25D2}"/>
              </a:ext>
            </a:extLst>
          </p:cNvPr>
          <p:cNvSpPr txBox="1"/>
          <p:nvPr/>
        </p:nvSpPr>
        <p:spPr>
          <a:xfrm>
            <a:off x="797629" y="667658"/>
            <a:ext cx="8522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400" dirty="0"/>
              <a:t>Native </a:t>
            </a:r>
            <a:r>
              <a:rPr lang="pl-PL" sz="4400" dirty="0" err="1"/>
              <a:t>solution</a:t>
            </a:r>
            <a:r>
              <a:rPr lang="pl-PL" sz="4400" dirty="0"/>
              <a:t>: </a:t>
            </a:r>
            <a:r>
              <a:rPr lang="pl-PL" sz="4400" dirty="0" err="1"/>
              <a:t>Commodore</a:t>
            </a:r>
            <a:r>
              <a:rPr lang="pl-PL" sz="4400" dirty="0"/>
              <a:t> 1551</a:t>
            </a:r>
            <a:endParaRPr lang="en-US" sz="4400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1EAC791F-F1BD-B659-4E7A-98ED5037948F}"/>
              </a:ext>
            </a:extLst>
          </p:cNvPr>
          <p:cNvSpPr txBox="1"/>
          <p:nvPr/>
        </p:nvSpPr>
        <p:spPr>
          <a:xfrm>
            <a:off x="797629" y="2088670"/>
            <a:ext cx="5637569" cy="310854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457200" indent="-457200">
              <a:buFontTx/>
              <a:buChar char="-"/>
            </a:pPr>
            <a:r>
              <a:rPr lang="pl-PL" sz="2800" dirty="0" err="1"/>
              <a:t>Designed</a:t>
            </a:r>
            <a:r>
              <a:rPr lang="pl-PL" sz="2800" dirty="0"/>
              <a:t> for C16/116/Plus4</a:t>
            </a:r>
          </a:p>
          <a:p>
            <a:pPr marL="457200" indent="-457200">
              <a:buFontTx/>
              <a:buChar char="-"/>
            </a:pPr>
            <a:r>
              <a:rPr lang="pl-PL" sz="2800" dirty="0" err="1"/>
              <a:t>Graphite</a:t>
            </a:r>
            <a:r>
              <a:rPr lang="pl-PL" sz="2800" dirty="0"/>
              <a:t> </a:t>
            </a:r>
            <a:r>
              <a:rPr lang="pl-PL" sz="2800" dirty="0" err="1"/>
              <a:t>finish</a:t>
            </a:r>
            <a:endParaRPr lang="pl-PL" sz="2800" dirty="0"/>
          </a:p>
          <a:p>
            <a:pPr marL="457200" indent="-457200">
              <a:buFontTx/>
              <a:buChar char="-"/>
            </a:pPr>
            <a:r>
              <a:rPr lang="pl-PL" sz="2800" dirty="0" err="1"/>
              <a:t>Almost</a:t>
            </a:r>
            <a:r>
              <a:rPr lang="pl-PL" sz="2800" dirty="0"/>
              <a:t> the same DOS as 1541</a:t>
            </a:r>
          </a:p>
          <a:p>
            <a:pPr marL="457200" indent="-457200">
              <a:buFontTx/>
              <a:buChar char="-"/>
            </a:pPr>
            <a:r>
              <a:rPr lang="pl-PL" sz="2800" dirty="0" err="1"/>
              <a:t>Four</a:t>
            </a:r>
            <a:r>
              <a:rPr lang="pl-PL" sz="2800" dirty="0"/>
              <a:t> </a:t>
            </a:r>
            <a:r>
              <a:rPr lang="pl-PL" sz="2800" dirty="0" err="1"/>
              <a:t>times</a:t>
            </a:r>
            <a:r>
              <a:rPr lang="pl-PL" sz="2800" dirty="0"/>
              <a:t> </a:t>
            </a:r>
            <a:r>
              <a:rPr lang="pl-PL" sz="2800" dirty="0" err="1"/>
              <a:t>faster</a:t>
            </a:r>
            <a:r>
              <a:rPr lang="pl-PL" sz="2800" dirty="0"/>
              <a:t> </a:t>
            </a:r>
            <a:r>
              <a:rPr lang="pl-PL" sz="2800" dirty="0" err="1"/>
              <a:t>than</a:t>
            </a:r>
            <a:r>
              <a:rPr lang="pl-PL" sz="2800" dirty="0"/>
              <a:t> 1541</a:t>
            </a:r>
          </a:p>
          <a:p>
            <a:pPr marL="457200" indent="-457200">
              <a:buFontTx/>
              <a:buChar char="-"/>
            </a:pPr>
            <a:r>
              <a:rPr lang="pl-PL" sz="2800" dirty="0" err="1"/>
              <a:t>Parallel</a:t>
            </a:r>
            <a:r>
              <a:rPr lang="pl-PL" sz="2800" dirty="0"/>
              <a:t> data transfer (TCBM)</a:t>
            </a:r>
          </a:p>
          <a:p>
            <a:pPr marL="457200" indent="-457200">
              <a:buFontTx/>
              <a:buChar char="-"/>
            </a:pPr>
            <a:r>
              <a:rPr lang="pl-PL" sz="2800" dirty="0" err="1"/>
              <a:t>Connected</a:t>
            </a:r>
            <a:r>
              <a:rPr lang="pl-PL" sz="2800" dirty="0"/>
              <a:t> </a:t>
            </a:r>
            <a:r>
              <a:rPr lang="pl-PL" sz="2800" dirty="0" err="1"/>
              <a:t>through</a:t>
            </a:r>
            <a:r>
              <a:rPr lang="pl-PL" sz="2800" dirty="0"/>
              <a:t> a </a:t>
            </a:r>
            <a:r>
              <a:rPr lang="pl-PL" sz="2800" dirty="0" err="1"/>
              <a:t>cartridge</a:t>
            </a:r>
            <a:r>
              <a:rPr lang="pl-PL" sz="2800" dirty="0"/>
              <a:t>?!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Rare and expensive</a:t>
            </a:r>
            <a:endParaRPr lang="pl-PL" sz="2800" dirty="0"/>
          </a:p>
        </p:txBody>
      </p:sp>
      <p:pic>
        <p:nvPicPr>
          <p:cNvPr id="2" name="Picture 2" descr="undefined">
            <a:extLst>
              <a:ext uri="{FF2B5EF4-FFF2-40B4-BE49-F238E27FC236}">
                <a16:creationId xmlns:a16="http://schemas.microsoft.com/office/drawing/2014/main" id="{F08B22B0-24DC-9F92-D1B6-2753964C3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435" y="2088670"/>
            <a:ext cx="4992478" cy="44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66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52452CBA-7E60-C349-0370-8FCCA60F25D2}"/>
              </a:ext>
            </a:extLst>
          </p:cNvPr>
          <p:cNvSpPr txBox="1"/>
          <p:nvPr/>
        </p:nvSpPr>
        <p:spPr>
          <a:xfrm>
            <a:off x="797629" y="667658"/>
            <a:ext cx="23491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400" dirty="0"/>
              <a:t>tcbm2sd</a:t>
            </a:r>
            <a:endParaRPr lang="en-US" sz="4400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34FD9BBD-5E0A-B19B-C3B4-70DA9FA64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322" y="1437099"/>
            <a:ext cx="3651854" cy="5217887"/>
          </a:xfrm>
          <a:prstGeom prst="rect">
            <a:avLst/>
          </a:prstGeom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7F657A64-82AD-69CF-6219-1A91D5A4A3C1}"/>
              </a:ext>
            </a:extLst>
          </p:cNvPr>
          <p:cNvSpPr txBox="1"/>
          <p:nvPr/>
        </p:nvSpPr>
        <p:spPr>
          <a:xfrm>
            <a:off x="797629" y="1713768"/>
            <a:ext cx="6022693" cy="39728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lvl="1" indent="-228600" defTabSz="9334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800" dirty="0"/>
              <a:t>replaces the original paddle </a:t>
            </a:r>
          </a:p>
          <a:p>
            <a:pPr marL="228600" lvl="1" indent="-228600" defTabSz="9334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800" dirty="0"/>
              <a:t>simulates 1551-like device with an SD card </a:t>
            </a:r>
          </a:p>
          <a:p>
            <a:pPr marL="228600" lvl="1" indent="-228600" defTabSz="9334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800" dirty="0"/>
              <a:t>32K / 64K cartridge (1-2 32K banks)</a:t>
            </a:r>
          </a:p>
          <a:p>
            <a:pPr marL="228600" lvl="1" indent="-228600" defTabSz="9334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800" dirty="0"/>
              <a:t>somewhat compatible (SD2IEC-like)</a:t>
            </a:r>
          </a:p>
          <a:p>
            <a:pPr marL="228600" lvl="1" indent="-228600" defTabSz="9334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Tx/>
              <a:buChar char="•"/>
            </a:pPr>
            <a:r>
              <a:rPr lang="en-US" sz="2800" dirty="0"/>
              <a:t>can’t execute drive code</a:t>
            </a:r>
          </a:p>
          <a:p>
            <a:pPr marL="228600" lvl="1" indent="-228600" defTabSz="9334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Tx/>
              <a:buChar char="•"/>
            </a:pPr>
            <a:r>
              <a:rPr lang="en-US" sz="2800" dirty="0"/>
              <a:t>exposes TCBM connection</a:t>
            </a:r>
          </a:p>
          <a:p>
            <a:pPr marL="228600" lvl="1" indent="-228600" defTabSz="9334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800" dirty="0"/>
              <a:t>but can disable itself if a cable is connected to TCBM connector</a:t>
            </a:r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224131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9D7F4-1693-2446-2DCD-788AB2408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940A6EC3-EF42-437F-52FE-344AF4A28E74}"/>
              </a:ext>
            </a:extLst>
          </p:cNvPr>
          <p:cNvSpPr txBox="1"/>
          <p:nvPr/>
        </p:nvSpPr>
        <p:spPr>
          <a:xfrm>
            <a:off x="797629" y="667658"/>
            <a:ext cx="41857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Pi1541 comes in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17A2B5D6-3709-FC27-C322-E7B08E79D095}"/>
              </a:ext>
            </a:extLst>
          </p:cNvPr>
          <p:cNvSpPr txBox="1"/>
          <p:nvPr/>
        </p:nvSpPr>
        <p:spPr>
          <a:xfrm>
            <a:off x="797629" y="1442171"/>
            <a:ext cx="1060636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>
                <a:hlinkClick r:id="rId3"/>
              </a:rPr>
              <a:t>https://cbm-pi1541.firebaseapp.com/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uses Raspberry pi for cycle-exact real-time emulation of 1541/81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emulates the hard parts: analog stuff and D64/G64 images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and the easy parts: 6502 CPU and VIA ports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73631F64-3CD9-4B5A-077B-10C36079C06D}"/>
              </a:ext>
            </a:extLst>
          </p:cNvPr>
          <p:cNvSpPr txBox="1"/>
          <p:nvPr/>
        </p:nvSpPr>
        <p:spPr>
          <a:xfrm>
            <a:off x="797629" y="3215227"/>
            <a:ext cx="587872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It should be easy, right?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383D7682-651D-DAE4-123D-8D74477A3BBE}"/>
              </a:ext>
            </a:extLst>
          </p:cNvPr>
          <p:cNvSpPr txBox="1"/>
          <p:nvPr/>
        </p:nvSpPr>
        <p:spPr>
          <a:xfrm>
            <a:off x="797629" y="3963255"/>
            <a:ext cx="985128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just replace 2x VIA emulation with CPU port and TPI ports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simplify circuit, parallel TCBM bus is much simpler than IEC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rename to Pi1551</a:t>
            </a:r>
          </a:p>
        </p:txBody>
      </p:sp>
    </p:spTree>
    <p:extLst>
      <p:ext uri="{BB962C8B-B14F-4D97-AF65-F5344CB8AC3E}">
        <p14:creationId xmlns:p14="http://schemas.microsoft.com/office/powerpoint/2010/main" val="1233052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8" grpId="0"/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0D8ED-5EAD-C0A2-51AD-EDA1BAD70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6AA7DA9A-CC7E-C332-21CB-E9ECEC0572A3}"/>
              </a:ext>
            </a:extLst>
          </p:cNvPr>
          <p:cNvSpPr txBox="1"/>
          <p:nvPr/>
        </p:nvSpPr>
        <p:spPr>
          <a:xfrm>
            <a:off x="797629" y="667658"/>
            <a:ext cx="33877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First success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54AF80B-56BC-017C-27CD-1CE4C41D41E6}"/>
              </a:ext>
            </a:extLst>
          </p:cNvPr>
          <p:cNvSpPr txBox="1"/>
          <p:nvPr/>
        </p:nvSpPr>
        <p:spPr>
          <a:xfrm>
            <a:off x="797629" y="1442171"/>
            <a:ext cx="569361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Started in September 2024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Project stalled until August 2025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Got first results in October 2025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247BDF7-6BCC-2A40-6EC6-662F5D4A83B8}"/>
              </a:ext>
            </a:extLst>
          </p:cNvPr>
          <p:cNvSpPr txBox="1"/>
          <p:nvPr/>
        </p:nvSpPr>
        <p:spPr>
          <a:xfrm>
            <a:off x="797629" y="4488208"/>
            <a:ext cx="515923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Devil is in the details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7F871599-1D9B-0225-11BE-81F9D1A21EDE}"/>
              </a:ext>
            </a:extLst>
          </p:cNvPr>
          <p:cNvSpPr txBox="1"/>
          <p:nvPr/>
        </p:nvSpPr>
        <p:spPr>
          <a:xfrm>
            <a:off x="797629" y="5236235"/>
            <a:ext cx="445820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Compatibility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2MHz CPU timing issues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73529EA3-22F8-6750-F715-F3AE000AB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44" y="0"/>
            <a:ext cx="44381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7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3" grpId="0"/>
      <p:bldP spid="9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F8F72-83E1-EBBE-9AC3-8FB9F1338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B24909E9-A3C2-CDFA-3B6E-71F06E9CFF59}"/>
              </a:ext>
            </a:extLst>
          </p:cNvPr>
          <p:cNvSpPr txBox="1"/>
          <p:nvPr/>
        </p:nvSpPr>
        <p:spPr>
          <a:xfrm>
            <a:off x="797629" y="667658"/>
            <a:ext cx="223772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It works!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BF396CE-5D68-7F06-4B73-E2C33C24E212}"/>
              </a:ext>
            </a:extLst>
          </p:cNvPr>
          <p:cNvSpPr txBox="1"/>
          <p:nvPr/>
        </p:nvSpPr>
        <p:spPr>
          <a:xfrm>
            <a:off x="797629" y="1442171"/>
            <a:ext cx="791986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Resolved the remaining problems by early 2026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Two interfaces, one Pi1551 firmware</a:t>
            </a:r>
          </a:p>
        </p:txBody>
      </p:sp>
      <p:pic>
        <p:nvPicPr>
          <p:cNvPr id="6" name="Obraz 5" descr="PI1551-HAT">
            <a:extLst>
              <a:ext uri="{FF2B5EF4-FFF2-40B4-BE49-F238E27FC236}">
                <a16:creationId xmlns:a16="http://schemas.microsoft.com/office/drawing/2014/main" id="{23462194-C82C-C60A-1632-2712396A1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629" y="2598272"/>
            <a:ext cx="4894918" cy="3833715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DB02DBEC-7C77-8B0C-C387-CB026A761B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866" b="34669"/>
          <a:stretch>
            <a:fillRect/>
          </a:stretch>
        </p:blipFill>
        <p:spPr>
          <a:xfrm>
            <a:off x="6594974" y="2598272"/>
            <a:ext cx="4799397" cy="38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210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0D467-AD25-6C68-F3D0-996FB52AC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508E3B79-ABEF-8F07-C3A4-EFB684FD34E9}"/>
              </a:ext>
            </a:extLst>
          </p:cNvPr>
          <p:cNvSpPr txBox="1"/>
          <p:nvPr/>
        </p:nvSpPr>
        <p:spPr>
          <a:xfrm>
            <a:off x="797629" y="667658"/>
            <a:ext cx="24849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Pi1551-III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D9534D2-321C-FCB6-48E6-2A802FA695F9}"/>
              </a:ext>
            </a:extLst>
          </p:cNvPr>
          <p:cNvSpPr txBox="1"/>
          <p:nvPr/>
        </p:nvSpPr>
        <p:spPr>
          <a:xfrm>
            <a:off x="797629" y="1442171"/>
            <a:ext cx="5930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hlinkClick r:id="rId3"/>
              </a:rPr>
              <a:t>https://github.com/ytmytm/Pi1551-III</a:t>
            </a:r>
            <a:endParaRPr lang="en-US" sz="2800" dirty="0"/>
          </a:p>
        </p:txBody>
      </p:sp>
      <p:pic>
        <p:nvPicPr>
          <p:cNvPr id="2" name="Obraz 1" descr="26.leds.jpg">
            <a:extLst>
              <a:ext uri="{FF2B5EF4-FFF2-40B4-BE49-F238E27FC236}">
                <a16:creationId xmlns:a16="http://schemas.microsoft.com/office/drawing/2014/main" id="{D0AC52B7-2189-8A57-8167-83B6F6E2D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93" y="2154476"/>
            <a:ext cx="5976970" cy="437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268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514DC-53E7-8BA2-4B09-C2F45EDDC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99D489A4-9562-5EAB-D05A-0F19FF213688}"/>
              </a:ext>
            </a:extLst>
          </p:cNvPr>
          <p:cNvSpPr txBox="1"/>
          <p:nvPr/>
        </p:nvSpPr>
        <p:spPr>
          <a:xfrm>
            <a:off x="797629" y="667658"/>
            <a:ext cx="33052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Architecture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010ED1F7-E0ED-5674-F23B-F2D36E94D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221" y="1437099"/>
            <a:ext cx="9086566" cy="5113911"/>
          </a:xfrm>
          <a:prstGeom prst="rect">
            <a:avLst/>
          </a:prstGeom>
        </p:spPr>
      </p:pic>
      <p:pic>
        <p:nvPicPr>
          <p:cNvPr id="3" name="Obraz 2">
            <a:extLst>
              <a:ext uri="{FF2B5EF4-FFF2-40B4-BE49-F238E27FC236}">
                <a16:creationId xmlns:a16="http://schemas.microsoft.com/office/drawing/2014/main" id="{6203869F-193C-7379-F35D-376F2F223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629" y="1252195"/>
            <a:ext cx="9960580" cy="560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682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06336-9C7B-C3FC-B252-4A520236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BEA3A764-962F-C77F-99B2-1ED5F0D3F367}"/>
              </a:ext>
            </a:extLst>
          </p:cNvPr>
          <p:cNvSpPr txBox="1"/>
          <p:nvPr/>
        </p:nvSpPr>
        <p:spPr>
          <a:xfrm>
            <a:off x="797629" y="667658"/>
            <a:ext cx="33332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Three modes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CF3F4C3-DEBF-192B-CD36-36164A7B7112}"/>
              </a:ext>
            </a:extLst>
          </p:cNvPr>
          <p:cNvSpPr txBox="1"/>
          <p:nvPr/>
        </p:nvSpPr>
        <p:spPr>
          <a:xfrm>
            <a:off x="797629" y="1442171"/>
            <a:ext cx="1059674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Browser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PRG files loaded directly from SD or from D71/80/81/82 images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Select D64/G64 disk images or disk flip lists (LST)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Select TAP files to play</a:t>
            </a:r>
          </a:p>
          <a:p>
            <a:r>
              <a:rPr lang="en-US" sz="2800" b="1" dirty="0"/>
              <a:t>Emulation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Cycle-exact 1551 emulation within D64/G64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Alternative DOS ROMs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8KB </a:t>
            </a:r>
            <a:r>
              <a:rPr lang="en-US" sz="2800" dirty="0" err="1"/>
              <a:t>RAMBOard</a:t>
            </a:r>
            <a:endParaRPr lang="en-US" sz="2800" dirty="0"/>
          </a:p>
          <a:p>
            <a:r>
              <a:rPr lang="en-US" sz="2800" b="1" dirty="0"/>
              <a:t>Tape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TAP playback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Independent of the disk mode and TCBM connection</a:t>
            </a:r>
          </a:p>
        </p:txBody>
      </p:sp>
    </p:spTree>
    <p:extLst>
      <p:ext uri="{BB962C8B-B14F-4D97-AF65-F5344CB8AC3E}">
        <p14:creationId xmlns:p14="http://schemas.microsoft.com/office/powerpoint/2010/main" val="212813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C23CD-70C7-1A1E-5B27-DE02684CC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E11F6BEB-A9E2-FD49-60BA-58A7DAC0317D}"/>
              </a:ext>
            </a:extLst>
          </p:cNvPr>
          <p:cNvSpPr txBox="1"/>
          <p:nvPr/>
        </p:nvSpPr>
        <p:spPr>
          <a:xfrm>
            <a:off x="797629" y="667658"/>
            <a:ext cx="34789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Parobek ROM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E2AE1F1-F77A-7461-8E48-20E94D9DEBD6}"/>
              </a:ext>
            </a:extLst>
          </p:cNvPr>
          <p:cNvSpPr txBox="1"/>
          <p:nvPr/>
        </p:nvSpPr>
        <p:spPr>
          <a:xfrm>
            <a:off x="797629" y="1442171"/>
            <a:ext cx="1065849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Directory browser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DOS wedge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Automatic </a:t>
            </a:r>
            <a:r>
              <a:rPr lang="en-US" sz="2800" dirty="0" err="1"/>
              <a:t>fastloader</a:t>
            </a:r>
            <a:r>
              <a:rPr lang="en-US" sz="2800" dirty="0"/>
              <a:t> selection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1551 with/without </a:t>
            </a:r>
            <a:r>
              <a:rPr lang="en-US" sz="2800" dirty="0" err="1"/>
              <a:t>RAMBoard</a:t>
            </a:r>
            <a:endParaRPr lang="en-US" sz="2800" dirty="0"/>
          </a:p>
          <a:p>
            <a:pPr marL="914400" lvl="1" indent="-457200">
              <a:buFontTx/>
              <a:buChar char="-"/>
            </a:pPr>
            <a:r>
              <a:rPr lang="en-US" sz="2800" dirty="0"/>
              <a:t>1541 with parallel cable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1571/81 with burst interface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1541/71/81 with </a:t>
            </a:r>
            <a:r>
              <a:rPr lang="en-US" sz="2800" dirty="0" err="1"/>
              <a:t>JiffyDOS</a:t>
            </a:r>
            <a:r>
              <a:rPr lang="en-US" sz="2800" dirty="0"/>
              <a:t> (even without </a:t>
            </a:r>
            <a:r>
              <a:rPr lang="en-US" sz="2800" dirty="0" err="1"/>
              <a:t>JiffyDOS</a:t>
            </a:r>
            <a:r>
              <a:rPr lang="en-US" sz="2800" dirty="0"/>
              <a:t> Kernal)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Supports also Pi1541, Pi1551 (SD2IEC test pending)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E2CBC35B-FD0D-063F-E973-B22EA0948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520" y="313738"/>
            <a:ext cx="4921946" cy="369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032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D3406-2D65-BF15-D0AD-9BCD169E3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E4539E87-21D3-4C4B-A505-D4E35A5DED94}"/>
              </a:ext>
            </a:extLst>
          </p:cNvPr>
          <p:cNvSpPr txBox="1"/>
          <p:nvPr/>
        </p:nvSpPr>
        <p:spPr>
          <a:xfrm>
            <a:off x="4252029" y="3044279"/>
            <a:ext cx="32228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400" dirty="0"/>
              <a:t>DEMO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54775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6800F-0FB5-AAAF-8B65-0EE72D804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91A78921-D1EE-60A5-6BB7-9EA1428ADE91}"/>
              </a:ext>
            </a:extLst>
          </p:cNvPr>
          <p:cNvSpPr txBox="1"/>
          <p:nvPr/>
        </p:nvSpPr>
        <p:spPr>
          <a:xfrm>
            <a:off x="797629" y="667658"/>
            <a:ext cx="70273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The system is now complete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4A0D5BA-3EFE-7F9A-5F86-3DADF368C72B}"/>
              </a:ext>
            </a:extLst>
          </p:cNvPr>
          <p:cNvSpPr txBox="1"/>
          <p:nvPr/>
        </p:nvSpPr>
        <p:spPr>
          <a:xfrm>
            <a:off x="797629" y="1442171"/>
            <a:ext cx="1065849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TCBM2SD replaces the paddle, Pi1551 replaced the 1551 drive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large Pi1551-III or small Pi1551-HAT interface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Parobek ROM provides all the convenience I have been missing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TAP player if you are into this sort of thing</a:t>
            </a:r>
          </a:p>
          <a:p>
            <a:pPr marL="457200" indent="-457200">
              <a:buFontTx/>
              <a:buChar char="-"/>
            </a:pPr>
            <a:r>
              <a:rPr lang="en-US" sz="2800" dirty="0" err="1"/>
              <a:t>fastloaders</a:t>
            </a:r>
            <a:r>
              <a:rPr lang="en-US" sz="2800" dirty="0"/>
              <a:t> for everything else: TCBM, IEC, </a:t>
            </a:r>
            <a:r>
              <a:rPr lang="en-US" sz="2800" dirty="0" err="1"/>
              <a:t>JiffyDOS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disconnect the ribbon cable and TCBM2SD is back – not 100% compatible but super fast for single-file programs and patched games</a:t>
            </a:r>
          </a:p>
        </p:txBody>
      </p:sp>
    </p:spTree>
    <p:extLst>
      <p:ext uri="{BB962C8B-B14F-4D97-AF65-F5344CB8AC3E}">
        <p14:creationId xmlns:p14="http://schemas.microsoft.com/office/powerpoint/2010/main" val="36413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31566-D774-7B37-B325-EE2893CEB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5B035575-296B-A621-B2AF-3132D12CE910}"/>
              </a:ext>
            </a:extLst>
          </p:cNvPr>
          <p:cNvSpPr txBox="1"/>
          <p:nvPr/>
        </p:nvSpPr>
        <p:spPr>
          <a:xfrm>
            <a:off x="559635" y="668856"/>
            <a:ext cx="46820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400" dirty="0" err="1"/>
              <a:t>What</a:t>
            </a:r>
            <a:r>
              <a:rPr lang="pl-PL" sz="4400" dirty="0"/>
              <a:t> </a:t>
            </a:r>
            <a:r>
              <a:rPr lang="pl-PL" sz="4400" dirty="0" err="1"/>
              <a:t>comes</a:t>
            </a:r>
            <a:r>
              <a:rPr lang="pl-PL" sz="4400" dirty="0"/>
              <a:t> </a:t>
            </a:r>
            <a:r>
              <a:rPr lang="pl-PL" sz="4400" dirty="0" err="1"/>
              <a:t>next</a:t>
            </a:r>
            <a:r>
              <a:rPr lang="pl-PL" sz="4400" dirty="0"/>
              <a:t>?</a:t>
            </a:r>
            <a:endParaRPr lang="en-US" sz="4400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2470A893-9FAE-53F5-E9B3-1707A43D435E}"/>
              </a:ext>
            </a:extLst>
          </p:cNvPr>
          <p:cNvSpPr txBox="1"/>
          <p:nvPr/>
        </p:nvSpPr>
        <p:spPr>
          <a:xfrm>
            <a:off x="559635" y="1443369"/>
            <a:ext cx="955652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Firmware development continues: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better on-device user interface, menu system, settings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clearer status feedback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support for tape recording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even more compatibility testing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implement missing tcbm2sd features in the browser mode</a:t>
            </a:r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246601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8DBDA-2902-B1B5-C9B4-7AB2E168A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A9505DCD-25D9-6E4C-CFFB-67484AD88227}"/>
              </a:ext>
            </a:extLst>
          </p:cNvPr>
          <p:cNvSpPr txBox="1"/>
          <p:nvPr/>
        </p:nvSpPr>
        <p:spPr>
          <a:xfrm>
            <a:off x="797629" y="667658"/>
            <a:ext cx="39612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Where to get it?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57545E8-309C-2747-25B6-23DCF1ECBBC7}"/>
              </a:ext>
            </a:extLst>
          </p:cNvPr>
          <p:cNvSpPr txBox="1"/>
          <p:nvPr/>
        </p:nvSpPr>
        <p:spPr>
          <a:xfrm>
            <a:off x="797629" y="1442171"/>
            <a:ext cx="899765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Hardware</a:t>
            </a:r>
          </a:p>
          <a:p>
            <a:r>
              <a:rPr lang="en-US" sz="2800" dirty="0"/>
              <a:t>TCBM2SD: </a:t>
            </a:r>
            <a:r>
              <a:rPr lang="en-US" sz="2800" dirty="0">
                <a:hlinkClick r:id="rId3"/>
              </a:rPr>
              <a:t>https://github.com/ytmytm/plus4-tcbm2sd</a:t>
            </a:r>
            <a:endParaRPr lang="en-US" sz="2800" dirty="0"/>
          </a:p>
          <a:p>
            <a:r>
              <a:rPr lang="en-US" sz="2800" dirty="0"/>
              <a:t>Pi1551-HAT: </a:t>
            </a:r>
            <a:r>
              <a:rPr lang="en-US" sz="2800" dirty="0">
                <a:hlinkClick r:id="rId4"/>
              </a:rPr>
              <a:t>https://github.com/ytmytm/Pi1551-HAT</a:t>
            </a:r>
            <a:endParaRPr lang="en-US" sz="2800" dirty="0"/>
          </a:p>
          <a:p>
            <a:r>
              <a:rPr lang="en-US" sz="2800" dirty="0"/>
              <a:t>Pi1551-III: </a:t>
            </a:r>
            <a:r>
              <a:rPr lang="en-US" sz="2800" dirty="0">
                <a:hlinkClick r:id="rId5"/>
              </a:rPr>
              <a:t>https://github.com/ytmytm/Pi1551-III</a:t>
            </a:r>
            <a:endParaRPr lang="en-US" sz="2800" dirty="0"/>
          </a:p>
          <a:p>
            <a:r>
              <a:rPr lang="en-US" sz="2800" b="1" dirty="0"/>
              <a:t>Firmware</a:t>
            </a:r>
          </a:p>
          <a:p>
            <a:r>
              <a:rPr lang="en-US" sz="2800" dirty="0"/>
              <a:t>Pi1551: </a:t>
            </a:r>
            <a:r>
              <a:rPr lang="en-US" sz="2800" dirty="0">
                <a:hlinkClick r:id="rId6"/>
              </a:rPr>
              <a:t>https://github.com/ytmytm/Pi1551</a:t>
            </a:r>
            <a:endParaRPr lang="en-US" sz="2800" dirty="0"/>
          </a:p>
          <a:p>
            <a:r>
              <a:rPr lang="en-US" sz="2800" dirty="0"/>
              <a:t>Parobek ROM: </a:t>
            </a:r>
            <a:r>
              <a:rPr lang="en-US" sz="2800" dirty="0">
                <a:hlinkClick r:id="rId7"/>
              </a:rPr>
              <a:t>https://github.com/ytmytm/plus4-parobek</a:t>
            </a:r>
            <a:endParaRPr lang="en-US" sz="2800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083A9B1-3FED-FB15-8C69-8F0AFD88D263}"/>
              </a:ext>
            </a:extLst>
          </p:cNvPr>
          <p:cNvSpPr txBox="1"/>
          <p:nvPr/>
        </p:nvSpPr>
        <p:spPr>
          <a:xfrm>
            <a:off x="797629" y="5415829"/>
            <a:ext cx="78328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dirty="0"/>
              <a:t>Want to </a:t>
            </a:r>
            <a:r>
              <a:rPr lang="pl-PL" sz="2800" dirty="0" err="1"/>
              <a:t>purchase</a:t>
            </a:r>
            <a:r>
              <a:rPr lang="pl-PL" sz="2800" dirty="0"/>
              <a:t>? </a:t>
            </a:r>
            <a:r>
              <a:rPr lang="pl-PL" sz="2800" dirty="0" err="1"/>
              <a:t>Contact</a:t>
            </a:r>
            <a:r>
              <a:rPr lang="pl-PL" sz="2800" dirty="0"/>
              <a:t> me</a:t>
            </a:r>
            <a:r>
              <a:rPr lang="en-US" sz="2800" dirty="0"/>
              <a:t>: ytm@elysium.pl</a:t>
            </a:r>
            <a:endParaRPr lang="pl-PL" sz="2800" dirty="0"/>
          </a:p>
        </p:txBody>
      </p:sp>
      <p:pic>
        <p:nvPicPr>
          <p:cNvPr id="7" name="Picture 2" descr="Github Logo - Free social media icons">
            <a:extLst>
              <a:ext uri="{FF2B5EF4-FFF2-40B4-BE49-F238E27FC236}">
                <a16:creationId xmlns:a16="http://schemas.microsoft.com/office/drawing/2014/main" id="{C3AC23DE-A4FC-44B3-0728-E704CBD61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1305" y="289378"/>
            <a:ext cx="1526000" cy="15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013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D4698-412A-F7F2-538D-35907492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EBE0D7B4-A193-E84D-9C4B-B6BB461BBF48}"/>
              </a:ext>
            </a:extLst>
          </p:cNvPr>
          <p:cNvSpPr txBox="1"/>
          <p:nvPr/>
        </p:nvSpPr>
        <p:spPr>
          <a:xfrm>
            <a:off x="0" y="2659559"/>
            <a:ext cx="12191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>Thank you!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0BBC590F-F3BC-AFE4-04AD-715C7BDED345}"/>
              </a:ext>
            </a:extLst>
          </p:cNvPr>
          <p:cNvSpPr txBox="1"/>
          <p:nvPr/>
        </p:nvSpPr>
        <p:spPr>
          <a:xfrm>
            <a:off x="0" y="4202348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hlinkClick r:id="rId3"/>
              </a:rPr>
              <a:t>ytm@elysium.pl</a:t>
            </a:r>
            <a:endParaRPr lang="en-US" sz="4400" dirty="0"/>
          </a:p>
          <a:p>
            <a:pPr algn="ctr"/>
            <a:r>
              <a:rPr lang="en-US" sz="4400" dirty="0">
                <a:hlinkClick r:id="rId4"/>
              </a:rPr>
              <a:t>https://github.com/ytmytm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712788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21DE8-4E3B-FAF4-AA87-73052E07C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5F5A6C92-0058-8B59-7912-F73057A02DA7}"/>
              </a:ext>
            </a:extLst>
          </p:cNvPr>
          <p:cNvSpPr txBox="1"/>
          <p:nvPr/>
        </p:nvSpPr>
        <p:spPr>
          <a:xfrm>
            <a:off x="797629" y="667658"/>
            <a:ext cx="51895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Surprise side project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D1E75B7-6794-2C82-CEA1-9BE2902959C1}"/>
              </a:ext>
            </a:extLst>
          </p:cNvPr>
          <p:cNvSpPr txBox="1"/>
          <p:nvPr/>
        </p:nvSpPr>
        <p:spPr>
          <a:xfrm>
            <a:off x="797629" y="1442171"/>
            <a:ext cx="44656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XXX </a:t>
            </a:r>
            <a:r>
              <a:rPr lang="en-US" sz="2800" dirty="0" err="1"/>
              <a:t>zdjecia</a:t>
            </a:r>
            <a:r>
              <a:rPr lang="en-US" sz="2800" dirty="0"/>
              <a:t> side by side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Pi1551-III vs 1551-rePico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3CC68A3F-38E6-6AF7-3E3C-ED3E81C59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561" y="0"/>
            <a:ext cx="5986439" cy="619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17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42A23-0DCF-8521-438C-AD3E5109B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8645E47D-95C1-C552-15CF-2C3BADC65571}"/>
              </a:ext>
            </a:extLst>
          </p:cNvPr>
          <p:cNvSpPr txBox="1"/>
          <p:nvPr/>
        </p:nvSpPr>
        <p:spPr>
          <a:xfrm>
            <a:off x="797629" y="667658"/>
            <a:ext cx="31281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1551-rePico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EA2F9AB-5B55-4759-57A3-AE11F417D652}"/>
              </a:ext>
            </a:extLst>
          </p:cNvPr>
          <p:cNvSpPr txBox="1"/>
          <p:nvPr/>
        </p:nvSpPr>
        <p:spPr>
          <a:xfrm>
            <a:off x="797629" y="1442171"/>
            <a:ext cx="112774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Based on 1541-rePico: </a:t>
            </a:r>
            <a:r>
              <a:rPr lang="pl-PL" sz="2800" dirty="0">
                <a:hlinkClick r:id="rId3"/>
              </a:rPr>
              <a:t>https://github.com/fook42/1541-rePico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Recreates 1551, reuses Pi1551-III form factor and front panel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Analog parts, power, 2MHz CPU clock, 100Hz IRQ provided by Pico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Glue logic and TPI provided by CPLD, same as in tcbm2sd</a:t>
            </a:r>
          </a:p>
          <a:p>
            <a:pPr marL="914400" lvl="1" indent="-457200">
              <a:buFontTx/>
              <a:buChar char="-"/>
            </a:pPr>
            <a:r>
              <a:rPr lang="en-US" sz="2800" dirty="0" err="1"/>
              <a:t>RAMBoard</a:t>
            </a:r>
            <a:r>
              <a:rPr lang="en-US" sz="2800" dirty="0"/>
              <a:t> expansion integrated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64K ROM for alternative drive DOS options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Original 6510T CPU or MOS CPU replacer</a:t>
            </a:r>
          </a:p>
          <a:p>
            <a:pPr marL="914400" lvl="1" indent="-457200">
              <a:buFontTx/>
              <a:buChar char="-"/>
            </a:pPr>
            <a:r>
              <a:rPr lang="en-US" sz="2800" dirty="0">
                <a:hlinkClick r:id="rId4"/>
              </a:rPr>
              <a:t>https://github.com/monotech/MOS_CPU_Replacer</a:t>
            </a:r>
            <a:endParaRPr lang="en-US" sz="2800" dirty="0"/>
          </a:p>
          <a:p>
            <a:pPr marL="914400" lvl="1" indent="-457200">
              <a:buFontTx/>
              <a:buChar char="-"/>
            </a:pPr>
            <a:r>
              <a:rPr lang="en-US" sz="2800" dirty="0"/>
              <a:t>It’s fun to build a computer, but surprisingly it’s not 100% compatible</a:t>
            </a:r>
          </a:p>
          <a:p>
            <a:pPr marL="914400" lvl="1" indent="-457200">
              <a:buFontTx/>
              <a:buChar char="-"/>
            </a:pPr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411477657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2433</Words>
  <Application>Microsoft Office PowerPoint</Application>
  <PresentationFormat>Panoramiczny</PresentationFormat>
  <Paragraphs>287</Paragraphs>
  <Slides>19</Slides>
  <Notes>19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Motyw pakietu Office</vt:lpstr>
      <vt:lpstr>Pi1551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Maciej Witkowiak</dc:creator>
  <cp:lastModifiedBy>Maciej Witkowiak</cp:lastModifiedBy>
  <cp:revision>152</cp:revision>
  <dcterms:created xsi:type="dcterms:W3CDTF">2024-11-11T22:35:32Z</dcterms:created>
  <dcterms:modified xsi:type="dcterms:W3CDTF">2026-09-25T21:14:11Z</dcterms:modified>
</cp:coreProperties>
</file>